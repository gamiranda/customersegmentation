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embeddedFontLst>
    <p:embeddedFont>
      <p:font typeface="Poppins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  <p:embeddedFont>
      <p:font typeface="Urbanist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CB21B9-2A75-4F5E-99E3-B35CEED91FD6}">
  <a:tblStyle styleId="{F3CB21B9-2A75-4F5E-99E3-B35CEED91FD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regular.fntdata"/><Relationship Id="rId25" Type="http://schemas.openxmlformats.org/officeDocument/2006/relationships/slide" Target="slides/slide19.xml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5.xml"/><Relationship Id="rId33" Type="http://schemas.openxmlformats.org/officeDocument/2006/relationships/font" Target="fonts/Lato-boldItalic.fntdata"/><Relationship Id="rId10" Type="http://schemas.openxmlformats.org/officeDocument/2006/relationships/slide" Target="slides/slide4.xml"/><Relationship Id="rId32" Type="http://schemas.openxmlformats.org/officeDocument/2006/relationships/font" Target="fonts/Lato-italic.fntdata"/><Relationship Id="rId13" Type="http://schemas.openxmlformats.org/officeDocument/2006/relationships/slide" Target="slides/slide7.xml"/><Relationship Id="rId35" Type="http://schemas.openxmlformats.org/officeDocument/2006/relationships/font" Target="fonts/Urbanist-bold.fntdata"/><Relationship Id="rId12" Type="http://schemas.openxmlformats.org/officeDocument/2006/relationships/slide" Target="slides/slide6.xml"/><Relationship Id="rId34" Type="http://schemas.openxmlformats.org/officeDocument/2006/relationships/font" Target="fonts/Urbanist-regular.fntdata"/><Relationship Id="rId15" Type="http://schemas.openxmlformats.org/officeDocument/2006/relationships/slide" Target="slides/slide9.xml"/><Relationship Id="rId37" Type="http://schemas.openxmlformats.org/officeDocument/2006/relationships/font" Target="fonts/Urbanist-boldItalic.fntdata"/><Relationship Id="rId14" Type="http://schemas.openxmlformats.org/officeDocument/2006/relationships/slide" Target="slides/slide8.xml"/><Relationship Id="rId36" Type="http://schemas.openxmlformats.org/officeDocument/2006/relationships/font" Target="fonts/Urbanist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4a73f5daf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d4a73f5daf_0_3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4a73f5da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d4a73f5daf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4a73f5da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d4a73f5daf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4a73f5da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d4a73f5daf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4a73f5da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d4a73f5daf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4a73f5da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d4a73f5daf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4a73f5daf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d4a73f5daf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4a73f5daf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d4a73f5daf_0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4a73f5da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d4a73f5daf_0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28.png"/><Relationship Id="rId5" Type="http://schemas.openxmlformats.org/officeDocument/2006/relationships/image" Target="../media/image9.png"/><Relationship Id="rId6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Relationship Id="rId4" Type="http://schemas.openxmlformats.org/officeDocument/2006/relationships/image" Target="../media/image15.png"/><Relationship Id="rId5" Type="http://schemas.openxmlformats.org/officeDocument/2006/relationships/image" Target="../media/image41.png"/><Relationship Id="rId6" Type="http://schemas.openxmlformats.org/officeDocument/2006/relationships/image" Target="../media/image23.png"/><Relationship Id="rId7" Type="http://schemas.openxmlformats.org/officeDocument/2006/relationships/image" Target="../media/image31.png"/><Relationship Id="rId8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Relationship Id="rId4" Type="http://schemas.openxmlformats.org/officeDocument/2006/relationships/image" Target="../media/image35.png"/><Relationship Id="rId5" Type="http://schemas.openxmlformats.org/officeDocument/2006/relationships/image" Target="../media/image33.png"/><Relationship Id="rId6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Relationship Id="rId4" Type="http://schemas.openxmlformats.org/officeDocument/2006/relationships/image" Target="../media/image38.png"/><Relationship Id="rId5" Type="http://schemas.openxmlformats.org/officeDocument/2006/relationships/image" Target="../media/image30.png"/><Relationship Id="rId6" Type="http://schemas.openxmlformats.org/officeDocument/2006/relationships/image" Target="../media/image40.png"/><Relationship Id="rId7" Type="http://schemas.openxmlformats.org/officeDocument/2006/relationships/image" Target="../media/image39.png"/><Relationship Id="rId8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777454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Análise de RFM: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 O Valor dos Clientes Premium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71500" y="3594645"/>
            <a:ext cx="76200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166145"/>
            <a:ext cx="762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Uma análise sobre o comportamento, faturamento e oportunidades estratégicas do segmento de maior valor da nossa base.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50925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Gabriel Miranda - Cientista de Dados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452251"/>
            <a:ext cx="116016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O que é o</a:t>
            </a:r>
            <a:r>
              <a:rPr b="1" i="0" lang="en-US" sz="4800" u="none" cap="none" strike="noStrik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 RFM</a:t>
            </a:r>
            <a:r>
              <a:rPr b="1" lang="en-US" sz="480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1420350"/>
            <a:ext cx="94644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Uma forma simples de segmentar clientes com base no comportamento de compra.</a:t>
            </a:r>
            <a:endParaRPr sz="18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Recência (R): Há quanto tempo o cliente comprou? Quanto mais recente, melhor.</a:t>
            </a:r>
            <a:endParaRPr sz="18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Frequência (F): Quantas vezes o cliente comprou? Clientes frequentes são mais engajados.</a:t>
            </a:r>
            <a:endParaRPr sz="18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Valor Monetário (M): Quanto o cliente gastou? Clientes que gastam mais são mais valiosos.</a:t>
            </a:r>
            <a:endParaRPr sz="18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5327525"/>
            <a:ext cx="9464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Nem todos os clientes são iguais — RFM ajuda a tratar cada grupo da melhor forma.</a:t>
            </a:r>
            <a:endParaRPr sz="18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05325"/>
            <a:ext cx="49530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762000" y="57150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Mercados Estratégicos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1695450"/>
            <a:ext cx="4953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análise focou nos três países com maior relevância de base: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52500" y="2409825"/>
            <a:ext cx="4572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Reino Unido: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Nosso mercado principal.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52500" y="2962275"/>
            <a:ext cx="4572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Alemanha: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Segundo mercado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3514725"/>
            <a:ext cx="4572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França: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Terceiro mercado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62000" y="4695825"/>
            <a:ext cx="4572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BBF24"/>
                </a:solidFill>
                <a:latin typeface="Lato"/>
                <a:ea typeface="Lato"/>
                <a:cs typeface="Lato"/>
                <a:sym typeface="Lato"/>
              </a:rPr>
              <a:t>Insight:</a:t>
            </a:r>
            <a:r>
              <a:rPr b="0" i="0" lang="en-US" sz="1350" u="none" cap="none" strike="noStrike">
                <a:solidFill>
                  <a:srgbClr val="FBBF24"/>
                </a:solidFill>
                <a:latin typeface="Lato"/>
                <a:ea typeface="Lato"/>
                <a:cs typeface="Lato"/>
                <a:sym typeface="Lato"/>
              </a:rPr>
              <a:t> Existe potencial inexplorado para expandir o número de clientes Premium em outros mercados internacionais.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098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622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147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95975" y="0"/>
            <a:ext cx="6296025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90712"/>
            <a:ext cx="52387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0712"/>
            <a:ext cx="523875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544353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"Este dado justifica campanhas e condições específicas para proteger e expandir este grupo."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62025" y="2281237"/>
            <a:ext cx="4457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900" u="none" cap="none" strike="noStrik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8,17%</a:t>
            </a:r>
            <a:endParaRPr sz="1300"/>
          </a:p>
        </p:txBody>
      </p:sp>
      <p:sp>
        <p:nvSpPr>
          <p:cNvPr id="123" name="Google Shape;123;p16"/>
          <p:cNvSpPr txBox="1"/>
          <p:nvPr/>
        </p:nvSpPr>
        <p:spPr>
          <a:xfrm>
            <a:off x="962025" y="3519487"/>
            <a:ext cx="4457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TOTAL DE CLIENTES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62025" y="3986212"/>
            <a:ext cx="4457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335 clientes foram classificados como </a:t>
            </a:r>
            <a:r>
              <a:rPr b="1" i="0" lang="en-US" sz="1350" u="none" cap="none" strike="noStrike">
                <a:solidFill>
                  <a:srgbClr val="F59E0B"/>
                </a:solidFill>
                <a:latin typeface="Lato"/>
                <a:ea typeface="Lato"/>
                <a:cs typeface="Lato"/>
                <a:sym typeface="Lato"/>
              </a:rPr>
              <a:t>Premium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através da análise de RFM.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772275" y="2281237"/>
            <a:ext cx="4457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900" u="none" cap="none" strike="noStrik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42,62%</a:t>
            </a:r>
            <a:endParaRPr sz="1300"/>
          </a:p>
        </p:txBody>
      </p:sp>
      <p:sp>
        <p:nvSpPr>
          <p:cNvPr id="126" name="Google Shape;126;p16"/>
          <p:cNvSpPr txBox="1"/>
          <p:nvPr/>
        </p:nvSpPr>
        <p:spPr>
          <a:xfrm>
            <a:off x="6772275" y="3519487"/>
            <a:ext cx="4457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FATURAMENTO GERADO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772275" y="3986212"/>
            <a:ext cx="44577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Este grupo é responsável por quase metade da receita total no período analisado.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Concentração de Receita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295275" y="571500"/>
            <a:ext cx="1160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Observando alguns indicadores</a:t>
            </a:r>
            <a:endParaRPr sz="4800"/>
          </a:p>
        </p:txBody>
      </p:sp>
      <p:sp>
        <p:nvSpPr>
          <p:cNvPr id="136" name="Google Shape;136;p17"/>
          <p:cNvSpPr txBox="1"/>
          <p:nvPr/>
        </p:nvSpPr>
        <p:spPr>
          <a:xfrm>
            <a:off x="571500" y="1905000"/>
            <a:ext cx="11049000" cy="27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Análise d</a:t>
            </a:r>
            <a:r>
              <a:rPr lang="en-US" sz="21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b="0" i="0" lang="en-US" sz="21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b="0" i="0" lang="en-US" sz="21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Indicadores de Performance</a:t>
            </a:r>
            <a:endParaRPr b="0" i="0" sz="2100" u="none" cap="none" strike="noStrike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"/>
              <a:buChar char="-"/>
            </a:pPr>
            <a:r>
              <a:rPr b="1" lang="en-US" sz="21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Recência</a:t>
            </a:r>
            <a:endParaRPr b="1" sz="21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"/>
              <a:buChar char="-"/>
            </a:pPr>
            <a:r>
              <a:rPr b="1" lang="en-US" sz="21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Frequência</a:t>
            </a:r>
            <a:endParaRPr b="1" sz="21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"/>
              <a:buChar char="-"/>
            </a:pPr>
            <a:r>
              <a:rPr b="1" lang="en-US" sz="21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Total Gasto no Período</a:t>
            </a:r>
            <a:endParaRPr b="1" sz="21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"/>
              <a:buChar char="-"/>
            </a:pPr>
            <a:r>
              <a:rPr b="1" lang="en-US" sz="21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Perfil de Consumo</a:t>
            </a:r>
            <a:endParaRPr b="1" sz="21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"/>
              <a:buChar char="-"/>
            </a:pPr>
            <a:r>
              <a:rPr b="1" lang="en-US" sz="21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Gastos com Frete e postagem</a:t>
            </a:r>
            <a:endParaRPr b="1" sz="3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7962"/>
            <a:ext cx="5238750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571500" y="2747962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Média de Dias (Menor é Melhor)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6381750" y="3295650"/>
            <a:ext cx="523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recência é cerca de </a:t>
            </a:r>
            <a:r>
              <a:rPr b="1" i="0" lang="en-US" sz="1350" u="none" cap="none" strike="noStrike">
                <a:solidFill>
                  <a:srgbClr val="F59E0B"/>
                </a:solidFill>
                <a:latin typeface="Lato"/>
                <a:ea typeface="Lato"/>
                <a:cs typeface="Lato"/>
                <a:sym typeface="Lato"/>
              </a:rPr>
              <a:t>100 vezes menor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nos clientes Premium.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6381750" y="3743325"/>
            <a:ext cx="52387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Ação Recomendada: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Por voltarem rapidamente, são ideais para anúncios de itens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perecíveis ou de consumo recorrente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maximizando o potencial de venda.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Recência: Rapidez no Retorno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7962"/>
            <a:ext cx="5238750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571500" y="2747962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Transações Médias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6381750" y="3295650"/>
            <a:ext cx="523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frequência de compra Premium é </a:t>
            </a:r>
            <a:r>
              <a:rPr b="1" i="0" lang="en-US" sz="1350" u="none" cap="none" strike="noStrike">
                <a:solidFill>
                  <a:srgbClr val="F59E0B"/>
                </a:solidFill>
                <a:latin typeface="Lato"/>
                <a:ea typeface="Lato"/>
                <a:cs typeface="Lato"/>
                <a:sym typeface="Lato"/>
              </a:rPr>
              <a:t>5x maior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que a média geral.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6381750" y="3743325"/>
            <a:ext cx="52387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Ação Recomendada: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Criação de um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Programa de Fidelidade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exclusivo. Este perfil de cliente valoriza benefícios por recorrência, o que pode aumentar ainda mais o </a:t>
            </a:r>
            <a:r>
              <a:rPr b="0" i="1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lock-in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Frequência: Fidelidade em Transações</a:t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7962"/>
            <a:ext cx="5238750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571500" y="2747962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Gasto Médio (£)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6381750" y="3295650"/>
            <a:ext cx="5238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 gasto médio é </a:t>
            </a:r>
            <a:r>
              <a:rPr b="1" i="0" lang="en-US" sz="1350" u="none" cap="none" strike="noStrike">
                <a:solidFill>
                  <a:srgbClr val="F59E0B"/>
                </a:solidFill>
                <a:latin typeface="Lato"/>
                <a:ea typeface="Lato"/>
                <a:cs typeface="Lato"/>
                <a:sym typeface="Lato"/>
              </a:rPr>
              <a:t>9 vezes superior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no segmento Premium.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6381750" y="3743325"/>
            <a:ext cx="52387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Ação Recomendada: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Oferecer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atendimento prioritário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 suporte VIP. A confiança gerada garante que o cliente continue investindo altos valores na marca a longo prazo.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Gasto no Período: </a:t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6487"/>
            <a:ext cx="3492400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376487"/>
            <a:ext cx="3492549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376487"/>
            <a:ext cx="349240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857250" y="3309937"/>
            <a:ext cx="30669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SKUs Distintos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857250" y="3814762"/>
            <a:ext cx="29209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Média </a:t>
            </a:r>
            <a:r>
              <a:rPr b="1" i="0" lang="en-US" sz="1350" u="none" cap="none" strike="noStrike">
                <a:solidFill>
                  <a:srgbClr val="F59E0B"/>
                </a:solidFill>
                <a:latin typeface="Lato"/>
                <a:ea typeface="Lato"/>
                <a:cs typeface="Lato"/>
                <a:sym typeface="Lato"/>
              </a:rPr>
              <a:t>3x maior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no Premium (178 vs 50).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857250" y="4500562"/>
            <a:ext cx="292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Aponta para um cliente "curioso", propenso a descobrir novas categorias.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4635400" y="3309937"/>
            <a:ext cx="30671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Volume Total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4635400" y="3814762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Quantidade </a:t>
            </a:r>
            <a:r>
              <a:rPr b="1" i="0" lang="en-US" sz="1350" u="none" cap="none" strike="noStrike">
                <a:solidFill>
                  <a:srgbClr val="F59E0B"/>
                </a:solidFill>
                <a:latin typeface="Lato"/>
                <a:ea typeface="Lato"/>
                <a:cs typeface="Lato"/>
                <a:sym typeface="Lato"/>
              </a:rPr>
              <a:t>7x maior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 itens (5.3k vs 709).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4635400" y="4500562"/>
            <a:ext cx="292104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Permite identificar ciclos de reposição de estoque do próprio cliente.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8413700" y="3309937"/>
            <a:ext cx="30669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Personalização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8413700" y="3814762"/>
            <a:ext cx="29209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Direcionamento de campanhas baseado no histórico fixo vs. hábito de descoberta.</a:t>
            </a:r>
            <a:endParaRPr/>
          </a:p>
        </p:txBody>
      </p:sp>
      <p:pic>
        <p:nvPicPr>
          <p:cNvPr descr="image.png" id="186" name="Google Shape;18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7003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35400" y="270033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3700" y="27003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Perfil de Consumo e Curiosidade</a:t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571500" y="2395537"/>
            <a:ext cx="52389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Clientes Premium gastam </a:t>
            </a:r>
            <a:r>
              <a:rPr b="1" i="0" lang="en-US" sz="1450" u="none" cap="none" strike="noStrike">
                <a:solidFill>
                  <a:srgbClr val="F59E0B"/>
                </a:solidFill>
                <a:latin typeface="Lato"/>
                <a:ea typeface="Lato"/>
                <a:cs typeface="Lato"/>
                <a:sym typeface="Lato"/>
              </a:rPr>
              <a:t>8 vezes mais</a:t>
            </a:r>
            <a:r>
              <a:rPr b="0" i="0" lang="en-US" sz="14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com postagem (£1.331 vs £159).</a:t>
            </a:r>
            <a:endParaRPr sz="1500"/>
          </a:p>
        </p:txBody>
      </p:sp>
      <p:pic>
        <p:nvPicPr>
          <p:cNvPr descr="image.png" id="197" name="Google Shape;19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19612"/>
            <a:ext cx="523875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002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952500" y="3100387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Alto custo de frete pode ser um inibidor de compras futuras.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952500" y="3967162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Oportunidade de oferecer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frete grátis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condicional.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Frete e postagem dos produtos</a:t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3" name="Google Shape;20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003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6716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76500"/>
            <a:ext cx="52387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/>
        </p:nvSpPr>
        <p:spPr>
          <a:xfrm>
            <a:off x="952500" y="2628900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Retenção Imediata: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Ads de itens perecíveis para aproveitar a baixa recência.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952500" y="3495675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Fidelização: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Desenhar programa de pontos para sustentar a alta frequência.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952500" y="4362450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Logística: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Campanhas de "Frete Grátis acima de X" para o segmento Premium.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Plano de Ação Estratégico</a:t>
            </a:r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6" name="Google Shape;21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289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956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624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/>
        </p:nvSpPr>
        <p:spPr>
          <a:xfrm>
            <a:off x="295275" y="2538412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Avançando nas Análises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571500" y="3319462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Sistemas de Recomendação de produto</a:t>
            </a:r>
            <a:r>
              <a:rPr lang="en-US" sz="1650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s</a:t>
            </a:r>
            <a:r>
              <a:rPr b="0" i="0" lang="en-US" sz="1650" u="none" cap="none" strike="noStrike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 para Clientes Premium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14587"/>
            <a:ext cx="523875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14587"/>
            <a:ext cx="5238750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/>
        </p:nvSpPr>
        <p:spPr>
          <a:xfrm>
            <a:off x="866775" y="3357562"/>
            <a:ext cx="488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Recomendação Simples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866775" y="3805237"/>
            <a:ext cx="4648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Focada em popularidade. Recomendamos os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top 10 itens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mais comprados pelo segmento Premium para aqueles que ainda não os adquiriram.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6677025" y="3357562"/>
            <a:ext cx="488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Cesta de Produtos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6677025" y="3805237"/>
            <a:ext cx="46482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Focada em propensão. Algoritmo analisa a probabilidade de compra do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Produto B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baseado na aquisição do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Produto A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descr="image.png" id="236" name="Google Shape;23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73843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273843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5"/>
          <p:cNvSpPr txBox="1"/>
          <p:nvPr/>
        </p:nvSpPr>
        <p:spPr>
          <a:xfrm>
            <a:off x="571500" y="476250"/>
            <a:ext cx="6680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DIFERENCIAÇÃO DE </a:t>
            </a:r>
            <a:r>
              <a:rPr b="1" i="0" lang="en-US" sz="3300" u="none" cap="none" strike="noStrike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TÉCNICAS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"/>
          <p:cNvSpPr txBox="1"/>
          <p:nvPr/>
        </p:nvSpPr>
        <p:spPr>
          <a:xfrm>
            <a:off x="571500" y="762000"/>
            <a:ext cx="5200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DESIGN DO </a:t>
            </a:r>
            <a:r>
              <a:rPr b="1" i="0" lang="en-US" sz="3300" u="none" cap="none" strike="noStrike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EXPERIMENTO</a:t>
            </a:r>
            <a:endParaRPr/>
          </a:p>
        </p:txBody>
      </p:sp>
      <p:sp>
        <p:nvSpPr>
          <p:cNvPr id="244" name="Google Shape;244;p26"/>
          <p:cNvSpPr txBox="1"/>
          <p:nvPr/>
        </p:nvSpPr>
        <p:spPr>
          <a:xfrm>
            <a:off x="571500" y="2133600"/>
            <a:ext cx="4953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Para validar a eficácia, os clientes Premium serão divididos em dois grupos aleatórios:</a:t>
            </a:r>
            <a:endParaRPr/>
          </a:p>
        </p:txBody>
      </p:sp>
      <p:sp>
        <p:nvSpPr>
          <p:cNvPr id="245" name="Google Shape;245;p26"/>
          <p:cNvSpPr txBox="1"/>
          <p:nvPr/>
        </p:nvSpPr>
        <p:spPr>
          <a:xfrm>
            <a:off x="571500" y="4257675"/>
            <a:ext cx="4953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Objetivo: Medir se a complexidade do algoritmo de cesta gera incremento real de vendas sobre a simplicidade do Top 10.</a:t>
            </a:r>
            <a:endParaRPr/>
          </a:p>
        </p:txBody>
      </p:sp>
      <p:sp>
        <p:nvSpPr>
          <p:cNvPr id="246" name="Google Shape;246;p26"/>
          <p:cNvSpPr txBox="1"/>
          <p:nvPr/>
        </p:nvSpPr>
        <p:spPr>
          <a:xfrm>
            <a:off x="904875" y="3257550"/>
            <a:ext cx="4619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Grupo 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Recomendação Simples.</a:t>
            </a:r>
            <a:endParaRPr/>
          </a:p>
        </p:txBody>
      </p:sp>
      <p:sp>
        <p:nvSpPr>
          <p:cNvPr id="247" name="Google Shape;247;p26"/>
          <p:cNvSpPr txBox="1"/>
          <p:nvPr/>
        </p:nvSpPr>
        <p:spPr>
          <a:xfrm>
            <a:off x="904875" y="3657600"/>
            <a:ext cx="4619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Grupo B: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Cesta de Produtos (A -&gt; B).</a:t>
            </a:r>
            <a:endParaRPr/>
          </a:p>
        </p:txBody>
      </p:sp>
      <p:pic>
        <p:nvPicPr>
          <p:cNvPr descr="image.png" id="248" name="Google Shape;24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2908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6909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0100" y="0"/>
            <a:ext cx="61318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86000"/>
            <a:ext cx="3492400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286000"/>
            <a:ext cx="3492549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2286000"/>
            <a:ext cx="3492400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7"/>
          <p:cNvSpPr txBox="1"/>
          <p:nvPr/>
        </p:nvSpPr>
        <p:spPr>
          <a:xfrm>
            <a:off x="866775" y="3228975"/>
            <a:ext cx="304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Interpretabilidade</a:t>
            </a:r>
            <a:endParaRPr/>
          </a:p>
        </p:txBody>
      </p:sp>
      <p:sp>
        <p:nvSpPr>
          <p:cNvPr id="259" name="Google Shape;259;p27"/>
          <p:cNvSpPr txBox="1"/>
          <p:nvPr/>
        </p:nvSpPr>
        <p:spPr>
          <a:xfrm>
            <a:off x="866775" y="3676650"/>
            <a:ext cx="2901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Recomendação Simples é superior na facilidade de interpretação e manutenção no sistema.</a:t>
            </a:r>
            <a:endParaRPr/>
          </a:p>
        </p:txBody>
      </p:sp>
      <p:sp>
        <p:nvSpPr>
          <p:cNvPr id="260" name="Google Shape;260;p27"/>
          <p:cNvSpPr txBox="1"/>
          <p:nvPr/>
        </p:nvSpPr>
        <p:spPr>
          <a:xfrm>
            <a:off x="4644925" y="3228975"/>
            <a:ext cx="304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Eficiência</a:t>
            </a:r>
            <a:endParaRPr/>
          </a:p>
        </p:txBody>
      </p:sp>
      <p:sp>
        <p:nvSpPr>
          <p:cNvPr id="261" name="Google Shape;261;p27"/>
          <p:cNvSpPr txBox="1"/>
          <p:nvPr/>
        </p:nvSpPr>
        <p:spPr>
          <a:xfrm>
            <a:off x="4644925" y="3676650"/>
            <a:ext cx="2901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Seguiremos com a técnica Simples se ela se mostrar tão eficiente quanto a Cesta no teste A/B.</a:t>
            </a:r>
            <a:endParaRPr/>
          </a:p>
        </p:txBody>
      </p:sp>
      <p:sp>
        <p:nvSpPr>
          <p:cNvPr id="262" name="Google Shape;262;p27"/>
          <p:cNvSpPr txBox="1"/>
          <p:nvPr/>
        </p:nvSpPr>
        <p:spPr>
          <a:xfrm>
            <a:off x="8423225" y="3228975"/>
            <a:ext cx="304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Atualização</a:t>
            </a:r>
            <a:endParaRPr/>
          </a:p>
        </p:txBody>
      </p:sp>
      <p:sp>
        <p:nvSpPr>
          <p:cNvPr id="263" name="Google Shape;263;p27"/>
          <p:cNvSpPr txBox="1"/>
          <p:nvPr/>
        </p:nvSpPr>
        <p:spPr>
          <a:xfrm>
            <a:off x="8423225" y="3676650"/>
            <a:ext cx="290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Listas serão atualizadas periodicamente para garantir relevância e capturar mudanças de tendência.</a:t>
            </a:r>
            <a:endParaRPr/>
          </a:p>
        </p:txBody>
      </p:sp>
      <p:pic>
        <p:nvPicPr>
          <p:cNvPr descr="image.png" id="264" name="Google Shape;26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609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4925" y="2609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3225" y="26098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 txBox="1"/>
          <p:nvPr/>
        </p:nvSpPr>
        <p:spPr>
          <a:xfrm>
            <a:off x="571500" y="476250"/>
            <a:ext cx="4930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CRITÉRIO DE </a:t>
            </a:r>
            <a:r>
              <a:rPr b="1" i="0" lang="en-US" sz="3300" u="none" cap="none" strike="noStrike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DECISÃO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2" name="Google Shape;272;p28"/>
          <p:cNvGraphicFramePr/>
          <p:nvPr/>
        </p:nvGraphicFramePr>
        <p:xfrm>
          <a:off x="571500" y="13763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{F3CB21B9-2A75-4F5E-99E3-B35CEED91FD6}</a:tableStyleId>
              </a:tblPr>
              <a:tblGrid>
                <a:gridCol w="6272950"/>
                <a:gridCol w="4776050"/>
              </a:tblGrid>
              <a:tr h="42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59E0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Descrição do Produto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59E0B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Total Comprado (Premium)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2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WORLD WAR 2 GLIDERS ASSTD DESIGNS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25.463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000"/>
                    </a:solidFill>
                  </a:tcPr>
                </a:tc>
              </a:tr>
              <a:tr h="42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JUMBO BAG RED RETROSPOT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22.931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2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POPCORN HOLDER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17.927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000"/>
                    </a:solidFill>
                  </a:tcPr>
                </a:tc>
              </a:tr>
              <a:tr h="42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WHITE HANGING HEART T-LIGHT HOLDER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16.331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2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PACK OF 12 LONDON TISSUES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14.888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000"/>
                    </a:solidFill>
                  </a:tcPr>
                </a:tc>
              </a:tr>
              <a:tr h="42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VICTORIAN GLASS HANGING T-LIGHT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12.661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2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ASSORTED COLOUR BIRD ORNAMENT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11.761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000"/>
                    </a:solidFill>
                  </a:tcPr>
                </a:tc>
              </a:tr>
              <a:tr h="42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RED HARMONICA IN BOX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11.019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2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JUMBO BAG PINK POLKADOT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10.969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6000"/>
                    </a:solidFill>
                  </a:tcPr>
                </a:tc>
              </a:tr>
              <a:tr h="42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PACK OF 60 PINK PAISLEY CAKE CASES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9.686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73" name="Google Shape;273;p28"/>
          <p:cNvSpPr/>
          <p:nvPr/>
        </p:nvSpPr>
        <p:spPr>
          <a:xfrm>
            <a:off x="571500" y="1862137"/>
            <a:ext cx="6273000" cy="19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6844456" y="1862137"/>
            <a:ext cx="4776000" cy="19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571500" y="2295525"/>
            <a:ext cx="6273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6844456" y="2295525"/>
            <a:ext cx="4776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571500" y="2714625"/>
            <a:ext cx="6273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6844456" y="2714625"/>
            <a:ext cx="4776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8"/>
          <p:cNvSpPr/>
          <p:nvPr/>
        </p:nvSpPr>
        <p:spPr>
          <a:xfrm>
            <a:off x="571500" y="3133725"/>
            <a:ext cx="6273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8"/>
          <p:cNvSpPr/>
          <p:nvPr/>
        </p:nvSpPr>
        <p:spPr>
          <a:xfrm>
            <a:off x="6844456" y="3133725"/>
            <a:ext cx="4776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8"/>
          <p:cNvSpPr/>
          <p:nvPr/>
        </p:nvSpPr>
        <p:spPr>
          <a:xfrm>
            <a:off x="571500" y="3552825"/>
            <a:ext cx="6273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8"/>
          <p:cNvSpPr/>
          <p:nvPr/>
        </p:nvSpPr>
        <p:spPr>
          <a:xfrm>
            <a:off x="6844456" y="3552825"/>
            <a:ext cx="4776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8"/>
          <p:cNvSpPr/>
          <p:nvPr/>
        </p:nvSpPr>
        <p:spPr>
          <a:xfrm>
            <a:off x="571500" y="3971925"/>
            <a:ext cx="6273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8"/>
          <p:cNvSpPr/>
          <p:nvPr/>
        </p:nvSpPr>
        <p:spPr>
          <a:xfrm>
            <a:off x="6844456" y="3971925"/>
            <a:ext cx="4776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571500" y="4391025"/>
            <a:ext cx="6273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8"/>
          <p:cNvSpPr/>
          <p:nvPr/>
        </p:nvSpPr>
        <p:spPr>
          <a:xfrm>
            <a:off x="6844456" y="4391025"/>
            <a:ext cx="4776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8"/>
          <p:cNvSpPr/>
          <p:nvPr/>
        </p:nvSpPr>
        <p:spPr>
          <a:xfrm>
            <a:off x="571500" y="4810125"/>
            <a:ext cx="6273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8"/>
          <p:cNvSpPr/>
          <p:nvPr/>
        </p:nvSpPr>
        <p:spPr>
          <a:xfrm>
            <a:off x="6844456" y="4810125"/>
            <a:ext cx="4776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8"/>
          <p:cNvSpPr/>
          <p:nvPr/>
        </p:nvSpPr>
        <p:spPr>
          <a:xfrm>
            <a:off x="571500" y="5229225"/>
            <a:ext cx="6273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8"/>
          <p:cNvSpPr/>
          <p:nvPr/>
        </p:nvSpPr>
        <p:spPr>
          <a:xfrm>
            <a:off x="6844456" y="5229225"/>
            <a:ext cx="4776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571500" y="5648325"/>
            <a:ext cx="6273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6844456" y="5648325"/>
            <a:ext cx="4776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8"/>
          <p:cNvSpPr/>
          <p:nvPr/>
        </p:nvSpPr>
        <p:spPr>
          <a:xfrm>
            <a:off x="571500" y="6067425"/>
            <a:ext cx="6273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6844456" y="6067425"/>
            <a:ext cx="4776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8"/>
          <p:cNvSpPr txBox="1"/>
          <p:nvPr/>
        </p:nvSpPr>
        <p:spPr>
          <a:xfrm>
            <a:off x="571500" y="300025"/>
            <a:ext cx="10872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TOP 10 </a:t>
            </a:r>
            <a:r>
              <a:rPr b="1" i="0" lang="en-US" sz="3300" u="none" cap="none" strike="noStrike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PRODUTOS</a:t>
            </a: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(CLIENTES PREMIUM)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0" name="Google Shape;30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3048000"/>
            <a:ext cx="5238750" cy="13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6581775" y="3419475"/>
            <a:ext cx="4838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Insight: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alta recorrência em subcategorias (ex: variantes de Jumbo Bags) valida a busca por propensão cruzada.</a:t>
            </a:r>
            <a:endParaRPr/>
          </a:p>
        </p:txBody>
      </p:sp>
      <p:sp>
        <p:nvSpPr>
          <p:cNvPr id="302" name="Google Shape;302;p29"/>
          <p:cNvSpPr txBox="1"/>
          <p:nvPr/>
        </p:nvSpPr>
        <p:spPr>
          <a:xfrm>
            <a:off x="904875" y="3200400"/>
            <a:ext cx="490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Decoração: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T-Lights, Bird Ornaments.</a:t>
            </a:r>
            <a:endParaRPr/>
          </a:p>
        </p:txBody>
      </p:sp>
      <p:sp>
        <p:nvSpPr>
          <p:cNvPr id="303" name="Google Shape;303;p29"/>
          <p:cNvSpPr txBox="1"/>
          <p:nvPr/>
        </p:nvSpPr>
        <p:spPr>
          <a:xfrm>
            <a:off x="904875" y="3600450"/>
            <a:ext cx="490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Armazenamento: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Jumbo Bags (Red, Pink, Strawberry).</a:t>
            </a:r>
            <a:endParaRPr/>
          </a:p>
        </p:txBody>
      </p:sp>
      <p:sp>
        <p:nvSpPr>
          <p:cNvPr id="304" name="Google Shape;304;p29"/>
          <p:cNvSpPr txBox="1"/>
          <p:nvPr/>
        </p:nvSpPr>
        <p:spPr>
          <a:xfrm>
            <a:off x="904875" y="4000500"/>
            <a:ext cx="490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Festas: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Cake Cases, Popcorn Holders.</a:t>
            </a:r>
            <a:endParaRPr/>
          </a:p>
        </p:txBody>
      </p:sp>
      <p:pic>
        <p:nvPicPr>
          <p:cNvPr descr="image.png" id="305" name="Google Shape;30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337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3378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3383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9"/>
          <p:cNvSpPr txBox="1"/>
          <p:nvPr/>
        </p:nvSpPr>
        <p:spPr>
          <a:xfrm>
            <a:off x="571500" y="476250"/>
            <a:ext cx="6080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CATEGORIZAÇÃO DE </a:t>
            </a:r>
            <a:r>
              <a:rPr b="1" i="0" lang="en-US" sz="3300" u="none" cap="none" strike="noStrike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ITENS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14587"/>
            <a:ext cx="349240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414587"/>
            <a:ext cx="3492549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2414587"/>
            <a:ext cx="3492400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/>
        </p:nvSpPr>
        <p:spPr>
          <a:xfrm>
            <a:off x="866775" y="3357562"/>
            <a:ext cx="304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Lançamento</a:t>
            </a:r>
            <a:endParaRPr/>
          </a:p>
        </p:txBody>
      </p:sp>
      <p:sp>
        <p:nvSpPr>
          <p:cNvPr id="317" name="Google Shape;317;p30"/>
          <p:cNvSpPr txBox="1"/>
          <p:nvPr/>
        </p:nvSpPr>
        <p:spPr>
          <a:xfrm>
            <a:off x="866775" y="3805237"/>
            <a:ext cx="29019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Início do período de testes A/B para coleta de dados de conversão.</a:t>
            </a:r>
            <a:endParaRPr/>
          </a:p>
        </p:txBody>
      </p:sp>
      <p:sp>
        <p:nvSpPr>
          <p:cNvPr id="318" name="Google Shape;318;p30"/>
          <p:cNvSpPr txBox="1"/>
          <p:nvPr/>
        </p:nvSpPr>
        <p:spPr>
          <a:xfrm>
            <a:off x="4644925" y="3357562"/>
            <a:ext cx="304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Análise</a:t>
            </a:r>
            <a:endParaRPr/>
          </a:p>
        </p:txBody>
      </p:sp>
      <p:sp>
        <p:nvSpPr>
          <p:cNvPr id="319" name="Google Shape;319;p30"/>
          <p:cNvSpPr txBox="1"/>
          <p:nvPr/>
        </p:nvSpPr>
        <p:spPr>
          <a:xfrm>
            <a:off x="4644925" y="3805237"/>
            <a:ext cx="29019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Comparação de resultados após 30 dias para definição técnica final.</a:t>
            </a:r>
            <a:endParaRPr/>
          </a:p>
        </p:txBody>
      </p:sp>
      <p:sp>
        <p:nvSpPr>
          <p:cNvPr id="320" name="Google Shape;320;p30"/>
          <p:cNvSpPr txBox="1"/>
          <p:nvPr/>
        </p:nvSpPr>
        <p:spPr>
          <a:xfrm>
            <a:off x="8423225" y="3357562"/>
            <a:ext cx="304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Escalabilidade</a:t>
            </a:r>
            <a:endParaRPr/>
          </a:p>
        </p:txBody>
      </p:sp>
      <p:sp>
        <p:nvSpPr>
          <p:cNvPr id="321" name="Google Shape;321;p30"/>
          <p:cNvSpPr txBox="1"/>
          <p:nvPr/>
        </p:nvSpPr>
        <p:spPr>
          <a:xfrm>
            <a:off x="8423225" y="3805237"/>
            <a:ext cx="2901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Expansão do modelo para outros países com base em aprendizados de UK/DE/FR.</a:t>
            </a:r>
            <a:endParaRPr/>
          </a:p>
        </p:txBody>
      </p:sp>
      <p:pic>
        <p:nvPicPr>
          <p:cNvPr descr="image.png" id="322" name="Google Shape;322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7384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4925" y="27384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3225" y="27384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0"/>
          <p:cNvSpPr txBox="1"/>
          <p:nvPr/>
        </p:nvSpPr>
        <p:spPr>
          <a:xfrm>
            <a:off x="571500" y="476250"/>
            <a:ext cx="4660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CONCLUSÃO E </a:t>
            </a:r>
            <a:r>
              <a:rPr b="1" i="0" lang="en-US" sz="3300" u="none" cap="none" strike="noStrike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AÇÃO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1"/>
          <p:cNvSpPr txBox="1"/>
          <p:nvPr/>
        </p:nvSpPr>
        <p:spPr>
          <a:xfrm>
            <a:off x="3000613" y="2200275"/>
            <a:ext cx="6190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Dúvidas?</a:t>
            </a:r>
            <a:endParaRPr/>
          </a:p>
        </p:txBody>
      </p:sp>
      <p:sp>
        <p:nvSpPr>
          <p:cNvPr id="331" name="Google Shape;331;p31"/>
          <p:cNvSpPr txBox="1"/>
          <p:nvPr/>
        </p:nvSpPr>
        <p:spPr>
          <a:xfrm>
            <a:off x="3148012" y="4000500"/>
            <a:ext cx="589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Gabriel Miranda - Cientista de Dados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